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Corbel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dc+0Vd9H/dItLbO1Xcfw0IpVA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orbel-bold.fntdata"/><Relationship Id="rId16" Type="http://schemas.openxmlformats.org/officeDocument/2006/relationships/font" Target="fonts/Corbel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rbel-boldItalic.fntdata"/><Relationship Id="rId6" Type="http://schemas.openxmlformats.org/officeDocument/2006/relationships/slide" Target="slides/slide1.xml"/><Relationship Id="rId18" Type="http://schemas.openxmlformats.org/officeDocument/2006/relationships/font" Target="fonts/Corbel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a5b7192e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8a5b7192e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a5b7192ec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a5b7192e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a5b7192ec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8a5b7192e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a5b7192ec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8a5b7192e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a5b7192ec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a5b7192e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a5b7192ec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8a5b7192e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a5b7192ec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a5b7192e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4" name="Google Shape;24;p7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" name="Google Shape;25;p7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" name="Google Shape;26;p7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" name="Google Shape;27;p7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" name="Google Shape;28;p7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" name="Google Shape;29;p7"/>
          <p:cNvSpPr txBox="1"/>
          <p:nvPr>
            <p:ph type="ctrTitle"/>
          </p:nvPr>
        </p:nvSpPr>
        <p:spPr>
          <a:xfrm>
            <a:off x="914400" y="4343400"/>
            <a:ext cx="7772400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9144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subTitle"/>
          </p:nvPr>
        </p:nvSpPr>
        <p:spPr>
          <a:xfrm>
            <a:off x="914400" y="2834640"/>
            <a:ext cx="77724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10057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" name="Google Shape;32;p7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" name="Google Shape;33;p7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" name="Google Shape;34;p7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828952" y="1073888"/>
            <a:ext cx="4322136" cy="5791200"/>
          </a:xfrm>
          <a:custGeom>
            <a:rect b="b" l="l" r="r" t="t"/>
            <a:pathLst>
              <a:path extrusionOk="0" h="3648" w="2736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" name="Google Shape;43;p9"/>
          <p:cNvSpPr/>
          <p:nvPr/>
        </p:nvSpPr>
        <p:spPr>
          <a:xfrm>
            <a:off x="373966" y="0"/>
            <a:ext cx="5514536" cy="6615332"/>
          </a:xfrm>
          <a:custGeom>
            <a:rect b="b" l="l" r="r" t="t"/>
            <a:pathLst>
              <a:path extrusionOk="0" h="4128" w="3504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4" name="Google Shape;44;p9"/>
          <p:cNvSpPr/>
          <p:nvPr/>
        </p:nvSpPr>
        <p:spPr>
          <a:xfrm rot="5236414">
            <a:off x="4462128" y="1483600"/>
            <a:ext cx="4114800" cy="118872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566885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" name="Google Shape;45;p9"/>
          <p:cNvSpPr/>
          <p:nvPr/>
        </p:nvSpPr>
        <p:spPr>
          <a:xfrm>
            <a:off x="5943600" y="0"/>
            <a:ext cx="2743200" cy="4267200"/>
          </a:xfrm>
          <a:custGeom>
            <a:rect b="b" l="l" r="r" t="t"/>
            <a:pathLst>
              <a:path extrusionOk="0" h="2688" w="172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" name="Google Shape;46;p9"/>
          <p:cNvSpPr/>
          <p:nvPr/>
        </p:nvSpPr>
        <p:spPr>
          <a:xfrm>
            <a:off x="5943600" y="4267200"/>
            <a:ext cx="3200400" cy="1143000"/>
          </a:xfrm>
          <a:custGeom>
            <a:rect b="b" l="l" r="r" t="t"/>
            <a:pathLst>
              <a:path extrusionOk="0" h="720" w="2016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" name="Google Shape;47;p9"/>
          <p:cNvSpPr/>
          <p:nvPr/>
        </p:nvSpPr>
        <p:spPr>
          <a:xfrm>
            <a:off x="5943600" y="0"/>
            <a:ext cx="1371600" cy="4267200"/>
          </a:xfrm>
          <a:custGeom>
            <a:rect b="b" l="l" r="r" t="t"/>
            <a:pathLst>
              <a:path extrusionOk="0" h="2688" w="864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" name="Google Shape;48;p9"/>
          <p:cNvSpPr/>
          <p:nvPr/>
        </p:nvSpPr>
        <p:spPr>
          <a:xfrm>
            <a:off x="5948363" y="4246563"/>
            <a:ext cx="2090737" cy="2611437"/>
          </a:xfrm>
          <a:custGeom>
            <a:rect b="b" l="l" r="r" t="t"/>
            <a:pathLst>
              <a:path extrusionOk="0" h="1645" w="1317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5943600" y="4267200"/>
            <a:ext cx="1600200" cy="2590800"/>
          </a:xfrm>
          <a:custGeom>
            <a:rect b="b" l="l" r="r" t="t"/>
            <a:pathLst>
              <a:path extrusionOk="0" h="1632" w="1008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" name="Google Shape;50;p9"/>
          <p:cNvSpPr/>
          <p:nvPr/>
        </p:nvSpPr>
        <p:spPr>
          <a:xfrm>
            <a:off x="5943600" y="1371600"/>
            <a:ext cx="3200400" cy="2895600"/>
          </a:xfrm>
          <a:custGeom>
            <a:rect b="b" l="l" r="r" t="t"/>
            <a:pathLst>
              <a:path extrusionOk="0" h="1824" w="2016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" name="Google Shape;51;p9"/>
          <p:cNvSpPr/>
          <p:nvPr/>
        </p:nvSpPr>
        <p:spPr>
          <a:xfrm>
            <a:off x="5943600" y="1752600"/>
            <a:ext cx="3200400" cy="2514600"/>
          </a:xfrm>
          <a:custGeom>
            <a:rect b="b" l="l" r="r" t="t"/>
            <a:pathLst>
              <a:path extrusionOk="0" h="1584" w="2016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" name="Google Shape;52;p9"/>
          <p:cNvSpPr/>
          <p:nvPr/>
        </p:nvSpPr>
        <p:spPr>
          <a:xfrm>
            <a:off x="990600" y="4267200"/>
            <a:ext cx="4953000" cy="2590800"/>
          </a:xfrm>
          <a:custGeom>
            <a:rect b="b" l="l" r="r" t="t"/>
            <a:pathLst>
              <a:path extrusionOk="0" h="1632" w="3120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" name="Google Shape;53;p9"/>
          <p:cNvSpPr/>
          <p:nvPr/>
        </p:nvSpPr>
        <p:spPr>
          <a:xfrm>
            <a:off x="533400" y="4267200"/>
            <a:ext cx="5334000" cy="2590800"/>
          </a:xfrm>
          <a:custGeom>
            <a:rect b="b" l="l" r="r" t="t"/>
            <a:pathLst>
              <a:path extrusionOk="0" h="1632" w="3360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" name="Google Shape;54;p9"/>
          <p:cNvSpPr/>
          <p:nvPr/>
        </p:nvSpPr>
        <p:spPr>
          <a:xfrm>
            <a:off x="366824" y="2438400"/>
            <a:ext cx="5638800" cy="1828800"/>
          </a:xfrm>
          <a:custGeom>
            <a:rect b="b" l="l" r="r" t="t"/>
            <a:pathLst>
              <a:path extrusionOk="0" h="1152" w="35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" name="Google Shape;55;p9"/>
          <p:cNvSpPr/>
          <p:nvPr/>
        </p:nvSpPr>
        <p:spPr>
          <a:xfrm>
            <a:off x="366824" y="2133600"/>
            <a:ext cx="5638800" cy="213360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" name="Google Shape;56;p9"/>
          <p:cNvSpPr/>
          <p:nvPr/>
        </p:nvSpPr>
        <p:spPr>
          <a:xfrm>
            <a:off x="4572000" y="4267200"/>
            <a:ext cx="1371600" cy="2590800"/>
          </a:xfrm>
          <a:custGeom>
            <a:rect b="b" l="l" r="r" t="t"/>
            <a:pathLst>
              <a:path extrusionOk="0" h="1632" w="864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rgbClr val="566885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706902" y="1351672"/>
            <a:ext cx="5718048" cy="977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227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rgbClr val="56688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706902" y="512064"/>
            <a:ext cx="81564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6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800"/>
              <a:buFont typeface="Consolas"/>
              <a:buNone/>
              <a:defRPr b="0" sz="3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" name="Google Shape;64;p9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5" name="Google Shape;65;p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" name="Google Shape;66;p9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457200" y="512064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464344" y="17705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2" type="body"/>
          </p:nvPr>
        </p:nvSpPr>
        <p:spPr>
          <a:xfrm>
            <a:off x="4655344" y="17705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rgbClr val="56688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504824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457200" y="1809750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2" type="body"/>
          </p:nvPr>
        </p:nvSpPr>
        <p:spPr>
          <a:xfrm>
            <a:off x="4645025" y="1809750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3" type="body"/>
          </p:nvPr>
        </p:nvSpPr>
        <p:spPr>
          <a:xfrm>
            <a:off x="457200" y="2459037"/>
            <a:ext cx="4040188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4" type="body"/>
          </p:nvPr>
        </p:nvSpPr>
        <p:spPr>
          <a:xfrm>
            <a:off x="4645025" y="2459037"/>
            <a:ext cx="4041775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5" name="Google Shape;85;p11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" name="Google Shape;89;p11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11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" name="Google Shape;91;p1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2" name="Google Shape;92;p11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" name="Google Shape;93;p11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type="title"/>
          </p:nvPr>
        </p:nvSpPr>
        <p:spPr>
          <a:xfrm>
            <a:off x="685800" y="273050"/>
            <a:ext cx="82296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  <a:defRPr b="0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" type="body"/>
          </p:nvPr>
        </p:nvSpPr>
        <p:spPr>
          <a:xfrm>
            <a:off x="685800" y="1435100"/>
            <a:ext cx="2514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710"/>
              <a:buNone/>
              <a:defRPr sz="18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2" type="body"/>
          </p:nvPr>
        </p:nvSpPr>
        <p:spPr>
          <a:xfrm>
            <a:off x="3429000" y="1435100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640" lvl="0" marL="457200" algn="l">
              <a:spcBef>
                <a:spcPts val="700"/>
              </a:spcBef>
              <a:spcAft>
                <a:spcPts val="0"/>
              </a:spcAft>
              <a:buSzPts val="3040"/>
              <a:buChar char="▪"/>
              <a:defRPr sz="3200"/>
            </a:lvl1pPr>
            <a:lvl2pPr indent="-388619" lvl="1" marL="914400" algn="l">
              <a:spcBef>
                <a:spcPts val="560"/>
              </a:spcBef>
              <a:spcAft>
                <a:spcPts val="0"/>
              </a:spcAft>
              <a:buSzPts val="2520"/>
              <a:buChar char="🢭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🢝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12" name="Google Shape;112;p15"/>
          <p:cNvCxnSpPr/>
          <p:nvPr/>
        </p:nvCxnSpPr>
        <p:spPr>
          <a:xfrm>
            <a:off x="363195" y="1885028"/>
            <a:ext cx="8782622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3" name="Google Shape;113;p15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14" name="Google Shape;114;p15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15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5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7" name="Google Shape;117;p15"/>
          <p:cNvSpPr txBox="1"/>
          <p:nvPr>
            <p:ph type="title"/>
          </p:nvPr>
        </p:nvSpPr>
        <p:spPr>
          <a:xfrm>
            <a:off x="914400" y="441251"/>
            <a:ext cx="6858000" cy="701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100"/>
              <a:buFont typeface="Consolas"/>
              <a:buNone/>
              <a:defRPr b="0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/>
          <p:nvPr>
            <p:ph idx="2" type="pic"/>
          </p:nvPr>
        </p:nvSpPr>
        <p:spPr>
          <a:xfrm>
            <a:off x="368032" y="1893781"/>
            <a:ext cx="8778240" cy="4960144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914400" y="1150144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FFFFFF"/>
                </a:solidFill>
              </a:defRPr>
            </a:lvl1pPr>
            <a:lvl2pPr indent="-297180" lvl="1" marL="914400" algn="l">
              <a:spcBef>
                <a:spcPts val="240"/>
              </a:spcBef>
              <a:spcAft>
                <a:spcPts val="0"/>
              </a:spcAft>
              <a:buSzPts val="1080"/>
              <a:buChar char="🢭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85750" lvl="3" marL="1828800" algn="l">
              <a:spcBef>
                <a:spcPts val="180"/>
              </a:spcBef>
              <a:spcAft>
                <a:spcPts val="0"/>
              </a:spcAft>
              <a:buSzPts val="900"/>
              <a:buChar char="🢝"/>
              <a:defRPr sz="900"/>
            </a:lvl4pPr>
            <a:lvl5pPr indent="-285750" lvl="4" marL="2286000" algn="l"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grpSp>
        <p:nvGrpSpPr>
          <p:cNvPr id="120" name="Google Shape;120;p15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21" name="Google Shape;121;p15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15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15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4" name="Google Shape;124;p15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25" name="Google Shape;125;p15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15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15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8" name="Google Shape;128;p15"/>
          <p:cNvSpPr txBox="1"/>
          <p:nvPr>
            <p:ph idx="10" type="dt"/>
          </p:nvPr>
        </p:nvSpPr>
        <p:spPr>
          <a:xfrm>
            <a:off x="6477000" y="554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11" type="ftr"/>
          </p:nvPr>
        </p:nvSpPr>
        <p:spPr>
          <a:xfrm>
            <a:off x="914400" y="55499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8610600" y="554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6"/>
          <p:cNvSpPr txBox="1"/>
          <p:nvPr>
            <p:ph idx="1" type="body"/>
          </p:nvPr>
        </p:nvSpPr>
        <p:spPr>
          <a:xfrm rot="5400000">
            <a:off x="2514600" y="18336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 rot="5400000">
            <a:off x="4694238" y="2209802"/>
            <a:ext cx="5851525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7"/>
          <p:cNvSpPr txBox="1"/>
          <p:nvPr>
            <p:ph idx="1" type="body"/>
          </p:nvPr>
        </p:nvSpPr>
        <p:spPr>
          <a:xfrm rot="5400000">
            <a:off x="617538" y="266701"/>
            <a:ext cx="5851525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65000">
              <a:schemeClr val="dk1"/>
            </a:gs>
            <a:gs pos="100000">
              <a:srgbClr val="5676AA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" name="Google Shape;7;p6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" name="Google Shape;8;p6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" name="Google Shape;9;p6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" name="Google Shape;10;p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" name="Google Shape;11;p6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" name="Google Shape;12;p6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" name="Google Shape;13;p6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" name="Google Shape;14;p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" name="Google Shape;15;p6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b="0" i="0" sz="4000" u="none" cap="none" strike="noStrike">
                <a:solidFill>
                  <a:srgbClr val="C1EDF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6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9575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  <a:def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  <a:defRPr b="0" i="0" sz="2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🢝"/>
              <a:def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" name="Google Shape;17;p6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656" y="86792"/>
            <a:ext cx="6624736" cy="662473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"/>
          <p:cNvSpPr txBox="1"/>
          <p:nvPr/>
        </p:nvSpPr>
        <p:spPr>
          <a:xfrm>
            <a:off x="782250" y="5614975"/>
            <a:ext cx="814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</a:t>
            </a:r>
            <a:r>
              <a:rPr lang="es-ES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FINANDISRUPTOR: Upgrade de ERP en la Nube con IA </a:t>
            </a:r>
            <a:endParaRPr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8a5b7192ec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0" y="-85725"/>
            <a:ext cx="1360275" cy="136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8a5b7192ec_0_3"/>
          <p:cNvSpPr txBox="1"/>
          <p:nvPr/>
        </p:nvSpPr>
        <p:spPr>
          <a:xfrm>
            <a:off x="656025" y="1082275"/>
            <a:ext cx="7940400" cy="3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Rounded"/>
              <a:buChar char="●"/>
            </a:pPr>
            <a:r>
              <a:rPr lang="es-ES" sz="17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Es un proyecto de modernización de sistemas de negocio, migrando funcionalidades críticas (inventario, ventas) desde una base en Excel con VBA a una arquitectura web en la nube.</a:t>
            </a:r>
            <a:endParaRPr sz="17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s-ES" sz="17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Tecnología clave:</a:t>
            </a:r>
            <a:r>
              <a:rPr lang="es-ES" sz="17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Se incorporará un </a:t>
            </a:r>
            <a:r>
              <a:rPr b="1" lang="es-ES" sz="17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pipeline de IA</a:t>
            </a:r>
            <a:r>
              <a:rPr lang="es-ES" sz="17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para mapear, limpiar y migrar datos de forma automatizada.</a:t>
            </a:r>
            <a:endParaRPr sz="17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Rounded"/>
              <a:buChar char="●"/>
            </a:pPr>
            <a:r>
              <a:rPr b="1" lang="es-ES" sz="17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Funcionalidades principales:</a:t>
            </a:r>
            <a:endParaRPr b="1" sz="17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Rounded"/>
              <a:buChar char="○"/>
            </a:pPr>
            <a:r>
              <a:rPr lang="es-ES" sz="17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Migración y limpieza de base de datos asistida por IA.</a:t>
            </a:r>
            <a:endParaRPr sz="17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Rounded"/>
              <a:buChar char="○"/>
            </a:pPr>
            <a:r>
              <a:rPr lang="es-ES" sz="17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Módulos de inventario y ventas en una nueva plataforma.</a:t>
            </a:r>
            <a:endParaRPr sz="17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Rounded"/>
              <a:buChar char="○"/>
            </a:pPr>
            <a:r>
              <a:rPr lang="es-ES" sz="17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Mecanismos de seguridad, respaldo y auditoría.</a:t>
            </a:r>
            <a:endParaRPr sz="17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55" name="Google Shape;155;g38a5b7192ec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844" y="4076863"/>
            <a:ext cx="8443018" cy="236908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8a5b7192ec_0_3"/>
          <p:cNvSpPr txBox="1"/>
          <p:nvPr>
            <p:ph idx="4294967295" type="title"/>
          </p:nvPr>
        </p:nvSpPr>
        <p:spPr>
          <a:xfrm>
            <a:off x="685800" y="222764"/>
            <a:ext cx="77724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¿Qué es el Proyecto?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>
            <p:ph type="title"/>
          </p:nvPr>
        </p:nvSpPr>
        <p:spPr>
          <a:xfrm>
            <a:off x="914400" y="372739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lang="es-ES"/>
              <a:t>Diseño</a:t>
            </a:r>
            <a:endParaRPr/>
          </a:p>
        </p:txBody>
      </p:sp>
      <p:pic>
        <p:nvPicPr>
          <p:cNvPr id="162" name="Google Shape;1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789" y="1808962"/>
            <a:ext cx="5278736" cy="477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2775" y="131625"/>
            <a:ext cx="4509050" cy="377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1550" y="5272100"/>
            <a:ext cx="1360275" cy="13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/>
        </p:nvSpPr>
        <p:spPr>
          <a:xfrm>
            <a:off x="0" y="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s-ES" sz="1700">
                <a:solidFill>
                  <a:schemeClr val="dk1"/>
                </a:solidFill>
              </a:rPr>
              <a:t> 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546475" y="1157250"/>
            <a:ext cx="81975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Char char="●"/>
            </a:pPr>
            <a:r>
              <a:rPr lang="es-ES" sz="18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Desarrollo de software</a:t>
            </a:r>
            <a:endParaRPr sz="18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Char char="●"/>
            </a:pPr>
            <a:r>
              <a:rPr lang="es-ES" sz="18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Análisis y modelado de procesos de negocio</a:t>
            </a:r>
            <a:endParaRPr sz="18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Char char="●"/>
            </a:pPr>
            <a:r>
              <a:rPr lang="es-ES" sz="18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Gestión de sistemas de información empresarial</a:t>
            </a:r>
            <a:endParaRPr sz="18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71" name="Google Shape;171;p2"/>
          <p:cNvSpPr txBox="1"/>
          <p:nvPr>
            <p:ph type="title"/>
          </p:nvPr>
        </p:nvSpPr>
        <p:spPr>
          <a:xfrm>
            <a:off x="759025" y="501339"/>
            <a:ext cx="77724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Áreas de Desempeño:</a:t>
            </a:r>
            <a:endParaRPr/>
          </a:p>
        </p:txBody>
      </p:sp>
      <p:sp>
        <p:nvSpPr>
          <p:cNvPr id="172" name="Google Shape;172;p2"/>
          <p:cNvSpPr txBox="1"/>
          <p:nvPr/>
        </p:nvSpPr>
        <p:spPr>
          <a:xfrm>
            <a:off x="546475" y="3846925"/>
            <a:ext cx="7772400" cy="17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Char char="●"/>
            </a:pPr>
            <a:r>
              <a:rPr lang="es-ES" sz="18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Diseño y desarrollo de soluciones tecnológicas</a:t>
            </a:r>
            <a:endParaRPr sz="18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Char char="●"/>
            </a:pPr>
            <a:r>
              <a:rPr lang="es-ES" sz="18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Metodologías de análisis y desarrollo de software</a:t>
            </a:r>
            <a:endParaRPr sz="18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Char char="●"/>
            </a:pPr>
            <a:r>
              <a:rPr lang="es-ES" sz="18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Gestión de proyectos tecnológicos</a:t>
            </a:r>
            <a:endParaRPr sz="18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73" name="Google Shape;173;p2"/>
          <p:cNvSpPr txBox="1"/>
          <p:nvPr>
            <p:ph type="title"/>
          </p:nvPr>
        </p:nvSpPr>
        <p:spPr>
          <a:xfrm>
            <a:off x="606025" y="3289789"/>
            <a:ext cx="77724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Competencias Clave:</a:t>
            </a:r>
            <a:endParaRPr/>
          </a:p>
        </p:txBody>
      </p:sp>
      <p:pic>
        <p:nvPicPr>
          <p:cNvPr id="174" name="Google Shape;1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0" y="-85725"/>
            <a:ext cx="1360275" cy="13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a5b7192ec_0_23"/>
          <p:cNvSpPr txBox="1"/>
          <p:nvPr>
            <p:ph type="title"/>
          </p:nvPr>
        </p:nvSpPr>
        <p:spPr>
          <a:xfrm>
            <a:off x="562650" y="940689"/>
            <a:ext cx="77724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Fundamentación y Relevancia</a:t>
            </a:r>
            <a:endParaRPr/>
          </a:p>
        </p:txBody>
      </p:sp>
      <p:sp>
        <p:nvSpPr>
          <p:cNvPr id="180" name="Google Shape;180;g38a5b7192ec_0_23"/>
          <p:cNvSpPr txBox="1"/>
          <p:nvPr/>
        </p:nvSpPr>
        <p:spPr>
          <a:xfrm>
            <a:off x="562650" y="1318050"/>
            <a:ext cx="84759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El Problema:</a:t>
            </a:r>
            <a:endParaRPr b="1" sz="15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Sistemas administrativos críticos basados en </a:t>
            </a: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Excel con macros (VBA)</a:t>
            </a: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.</a:t>
            </a:r>
            <a:endParaRPr sz="15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Soluciones </a:t>
            </a: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vulnerables</a:t>
            </a: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, con problemas de </a:t>
            </a: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seguridad</a:t>
            </a: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, </a:t>
            </a: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trazabilidad</a:t>
            </a: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y </a:t>
            </a: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escala</a:t>
            </a: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.</a:t>
            </a:r>
            <a:endParaRPr sz="15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Dificultad para el </a:t>
            </a: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manejo concurrente</a:t>
            </a: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de la información.</a:t>
            </a:r>
            <a:endParaRPr sz="15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Nuestra Solución:</a:t>
            </a:r>
            <a:endParaRPr b="1" sz="15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Upgrade a un ERP en la nube</a:t>
            </a: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.</a:t>
            </a:r>
            <a:endParaRPr sz="15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Rounded"/>
              <a:buChar char="●"/>
            </a:pP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Aumento de seguridad, trazabilidad y disponibilidad.</a:t>
            </a:r>
            <a:endParaRPr b="1" sz="15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Permite la </a:t>
            </a: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escalabilidad</a:t>
            </a: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y una mejor </a:t>
            </a: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integración</a:t>
            </a: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con otras herramientas.</a:t>
            </a:r>
            <a:endParaRPr sz="15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Contexto:</a:t>
            </a:r>
            <a:endParaRPr b="1" sz="15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Proyecto aplicable en </a:t>
            </a:r>
            <a:r>
              <a:rPr b="1"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empresas chilenas de pequeño y mediano tamaño</a:t>
            </a:r>
            <a:r>
              <a:rPr lang="es-ES" sz="1500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que dependen de Excel para operaciones clave.</a:t>
            </a:r>
            <a:endParaRPr sz="1500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81" name="Google Shape;181;g38a5b7192ec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0" y="-85725"/>
            <a:ext cx="1360275" cy="13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a5b7192ec_0_36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Objetivos del Proyecto</a:t>
            </a:r>
            <a:endParaRPr/>
          </a:p>
        </p:txBody>
      </p:sp>
      <p:sp>
        <p:nvSpPr>
          <p:cNvPr id="187" name="Google Shape;187;g38a5b7192ec_0_36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Objetivo General:</a:t>
            </a:r>
            <a:r>
              <a:rPr lang="es-ES" sz="1700">
                <a:latin typeface="Arial"/>
                <a:ea typeface="Arial"/>
                <a:cs typeface="Arial"/>
                <a:sym typeface="Arial"/>
              </a:rPr>
              <a:t> Desarrollar un upgrade a un ERP en la nube desde una solución en Excel, incorporando IA para automatizar la migración y gestión de bases de datos, mejorando la seguridad y escalabilidad.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Objetivos Específicos: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Analizar</a:t>
            </a:r>
            <a:r>
              <a:rPr lang="es-ES" sz="1700">
                <a:latin typeface="Arial"/>
                <a:ea typeface="Arial"/>
                <a:cs typeface="Arial"/>
                <a:sym typeface="Arial"/>
              </a:rPr>
              <a:t> la solución Excel y mapear los procesos a migrar.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Diseñar</a:t>
            </a:r>
            <a:r>
              <a:rPr lang="es-ES" sz="1700">
                <a:latin typeface="Arial"/>
                <a:ea typeface="Arial"/>
                <a:cs typeface="Arial"/>
                <a:sym typeface="Arial"/>
              </a:rPr>
              <a:t> la arquitectura cloud para el nuevo ERP.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Implementar</a:t>
            </a:r>
            <a:r>
              <a:rPr lang="es-ES" sz="1700">
                <a:latin typeface="Arial"/>
                <a:ea typeface="Arial"/>
                <a:cs typeface="Arial"/>
                <a:sym typeface="Arial"/>
              </a:rPr>
              <a:t> un pipeline de migración de datos asistido por IA.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Desarrollar</a:t>
            </a:r>
            <a:r>
              <a:rPr lang="es-ES" sz="1700">
                <a:latin typeface="Arial"/>
                <a:ea typeface="Arial"/>
                <a:cs typeface="Arial"/>
                <a:sym typeface="Arial"/>
              </a:rPr>
              <a:t> el Módulo MVP (Inventario y Ventas) en la nueva plataforma.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Implementar</a:t>
            </a:r>
            <a:r>
              <a:rPr lang="es-ES" sz="1700">
                <a:latin typeface="Arial"/>
                <a:ea typeface="Arial"/>
                <a:cs typeface="Arial"/>
                <a:sym typeface="Arial"/>
              </a:rPr>
              <a:t> mecanismos de seguridad, backups y auditoría.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Validar</a:t>
            </a:r>
            <a:r>
              <a:rPr lang="es-ES" sz="1700">
                <a:latin typeface="Arial"/>
                <a:ea typeface="Arial"/>
                <a:cs typeface="Arial"/>
                <a:sym typeface="Arial"/>
              </a:rPr>
              <a:t> el sistema con pruebas funcionales y usuarios clave.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g38a5b7192ec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3100" y="66225"/>
            <a:ext cx="1360275" cy="13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a5b7192ec_0_42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Metodología y Plan de Trabajo</a:t>
            </a:r>
            <a:endParaRPr/>
          </a:p>
        </p:txBody>
      </p:sp>
      <p:sp>
        <p:nvSpPr>
          <p:cNvPr id="194" name="Google Shape;194;g38a5b7192ec_0_42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9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Metodología:</a:t>
            </a:r>
            <a:endParaRPr b="1"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Se utilizará la </a:t>
            </a: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metodología ágil (Scrum)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 con sprints de 2-3 semanas para una entrega continua de valor.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Fases y Plan de Trabajo:</a:t>
            </a:r>
            <a:endParaRPr b="1"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Semanas 1-2: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 Levantamiento de requisitos y análisis del Excel.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Semanas 3-4: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 Diseño de arquitectura y plan de migración.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Semanas 5-8: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 Desarrollo del pipeline de migración asistido por IA.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Semanas 9-14: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 Desarrollo del Módulo MVP (Inventario y Ventas).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Semanas 15-16: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 Implementación de seguridad y backups.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Semanas 17-18: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 Pruebas, integración y UAT.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Semanas 19-20: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 Documentación final y entrega.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g38a5b7192ec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0" y="66225"/>
            <a:ext cx="1360275" cy="13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a5b7192ec_0_47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Evidencias y Entregables Clave</a:t>
            </a:r>
            <a:endParaRPr/>
          </a:p>
        </p:txBody>
      </p:sp>
      <p:sp>
        <p:nvSpPr>
          <p:cNvPr id="201" name="Google Shape;201;g38a5b7192ec_0_47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Durante el Avance: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Análisis de la solución Excel:</a:t>
            </a:r>
            <a:r>
              <a:rPr lang="es-ES" sz="1700">
                <a:latin typeface="Arial"/>
                <a:ea typeface="Arial"/>
                <a:cs typeface="Arial"/>
                <a:sym typeface="Arial"/>
              </a:rPr>
              <a:t> Informe con la estructura, macros y procesos identificados.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Plan de migración asistida por IA:</a:t>
            </a:r>
            <a:r>
              <a:rPr lang="es-ES" sz="1700">
                <a:latin typeface="Arial"/>
                <a:ea typeface="Arial"/>
                <a:cs typeface="Arial"/>
                <a:sym typeface="Arial"/>
              </a:rPr>
              <a:t> Scripts para limpieza y mapeo de datos.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Entrega Final: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MVP en la nube:</a:t>
            </a:r>
            <a:r>
              <a:rPr lang="es-ES" sz="1700">
                <a:latin typeface="Arial"/>
                <a:ea typeface="Arial"/>
                <a:cs typeface="Arial"/>
                <a:sym typeface="Arial"/>
              </a:rPr>
              <a:t> Aplicación web con los módulos de inventario y ventas.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b="1" lang="es-ES" sz="1700">
                <a:latin typeface="Arial"/>
                <a:ea typeface="Arial"/>
                <a:cs typeface="Arial"/>
                <a:sym typeface="Arial"/>
              </a:rPr>
              <a:t>Informe final y documentación técnica:</a:t>
            </a:r>
            <a:r>
              <a:rPr lang="es-ES" sz="1700">
                <a:latin typeface="Arial"/>
                <a:ea typeface="Arial"/>
                <a:cs typeface="Arial"/>
                <a:sym typeface="Arial"/>
              </a:rPr>
              <a:t> Memoria, manual de usuario y plan de operación.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g38a5b7192ec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3725" y="66225"/>
            <a:ext cx="1360275" cy="13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a5b7192ec_0_57"/>
          <p:cNvSpPr txBox="1"/>
          <p:nvPr>
            <p:ph type="title"/>
          </p:nvPr>
        </p:nvSpPr>
        <p:spPr>
          <a:xfrm>
            <a:off x="614375" y="512064"/>
            <a:ext cx="77724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Factibilidad del Proyecto</a:t>
            </a:r>
            <a:endParaRPr/>
          </a:p>
        </p:txBody>
      </p:sp>
      <p:sp>
        <p:nvSpPr>
          <p:cNvPr id="208" name="Google Shape;208;g38a5b7192ec_0_57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9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●"/>
            </a:pP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El proyecto es </a:t>
            </a: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factible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 dentro del semestre.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Rounded"/>
              <a:buChar char="●"/>
            </a:pP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Recursos Requeridos:</a:t>
            </a:r>
            <a:endParaRPr b="1"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Rounded"/>
              <a:buChar char="○"/>
            </a:pP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Entornos cloud (cuentas académicas)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Rounded"/>
              <a:buChar char="○"/>
            </a:pP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Herramientas de desarrollo (VS Code, Git)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Rounded"/>
              <a:buChar char="○"/>
            </a:pP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Base de datos (PostgreSQL)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Rounded"/>
              <a:buChar char="○"/>
            </a:pP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Bibliotecas de Python para ETL e IA (pandas, APIs de LLM)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Rounded"/>
              <a:buChar char="●"/>
            </a:pP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Mitigación de Riesgos:</a:t>
            </a:r>
            <a:endParaRPr b="1"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Rounded"/>
              <a:buChar char="○"/>
            </a:pP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Se utilizarán datos simulados.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 Rounded"/>
              <a:buChar char="○"/>
            </a:pP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Se realizarán pruebas iterativas del MVP para asegurar la funcionalidad.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g38a5b7192ec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3725" y="66225"/>
            <a:ext cx="1360275" cy="13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a5b7192ec_0_52"/>
          <p:cNvSpPr txBox="1"/>
          <p:nvPr>
            <p:ph type="title"/>
          </p:nvPr>
        </p:nvSpPr>
        <p:spPr>
          <a:xfrm>
            <a:off x="914400" y="447764"/>
            <a:ext cx="77724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Conclusión</a:t>
            </a:r>
            <a:endParaRPr/>
          </a:p>
        </p:txBody>
      </p:sp>
      <p:sp>
        <p:nvSpPr>
          <p:cNvPr id="215" name="Google Shape;215;g38a5b7192ec_0_52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FINANDISRUPTOR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 es un proyecto robusto que ofrece una solución real y necesaria para las pymes, mejorando la seguridad, la trazabilidad y la eficiencia operativa.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Este proyecto aplica directamente las competencias de nuestro perfil de egreso en </a:t>
            </a: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análisis de sistemas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, </a:t>
            </a: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desarrollo de software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 y </a:t>
            </a: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gestión de bases de datos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, y se alinea con el interés profesional en </a:t>
            </a: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migraciones a la nube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 y la </a:t>
            </a:r>
            <a:r>
              <a:rPr b="1" lang="es-ES" sz="1700">
                <a:latin typeface="Arial Rounded"/>
                <a:ea typeface="Arial Rounded"/>
                <a:cs typeface="Arial Rounded"/>
                <a:sym typeface="Arial Rounded"/>
              </a:rPr>
              <a:t>automatización con IA</a:t>
            </a:r>
            <a:r>
              <a:rPr lang="es-ES" sz="1700">
                <a:latin typeface="Arial Rounded"/>
                <a:ea typeface="Arial Rounded"/>
                <a:cs typeface="Arial Rounded"/>
                <a:sym typeface="Arial Rounded"/>
              </a:rPr>
              <a:t>. Es un paso directo hacia roles con alta demanda en la industria.</a:t>
            </a:r>
            <a:endParaRPr sz="1700"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g38a5b7192ec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0" y="75000"/>
            <a:ext cx="1360275" cy="13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tro">
  <a:themeElements>
    <a:clrScheme name="Metro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2025-09-12T20:10:52Z</dcterms:created>
  <dc:creator>pc1</dc:creator>
</cp:coreProperties>
</file>